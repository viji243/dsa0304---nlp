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640080"/>
            <a:ext cx="1188720" cy="1188720"/>
          </a:xfrm>
          <a:prstGeom prst="ellipse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645920"/>
            <a:ext cx="502920" cy="502920"/>
          </a:xfrm>
          <a:prstGeom prst="ellipse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2148840"/>
            <a:ext cx="347472" cy="347472"/>
          </a:xfrm>
          <a:prstGeom prst="ellipse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49840" y="4480560"/>
            <a:ext cx="1371600" cy="1371600"/>
          </a:xfrm>
          <a:prstGeom prst="ellipse">
            <a:avLst/>
          </a:prstGeom>
          <a:solidFill>
            <a:srgbClr val="2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6217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25BEAA"/>
                </a:solidFill>
                <a:latin typeface="Aptos"/>
              </a:defRPr>
            </a:pPr>
            <a:r>
              <a:t>NATURAL LANGUAGE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772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Morphology &amp;</a:t>
            </a:r>
            <a:br/>
            <a:r>
              <a:t>Word 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749807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900" b="0">
                <a:solidFill>
                  <a:srgbClr val="BECADC"/>
                </a:solidFill>
                <a:latin typeface="Aptos"/>
              </a:defRPr>
            </a:pPr>
            <a:r>
              <a:t>Morpheme Analysis • Word Structure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09160"/>
            <a:ext cx="1371600" cy="640080"/>
          </a:xfrm>
          <a:prstGeom prst="round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855464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141F3A"/>
                </a:solidFill>
                <a:latin typeface="Aptos"/>
              </a:defRPr>
            </a:pPr>
            <a:r>
              <a:t>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709160"/>
            <a:ext cx="169164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1720" y="4855464"/>
            <a:ext cx="1600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141F3A"/>
                </a:solidFill>
                <a:latin typeface="Aptos"/>
              </a:defRPr>
            </a:pPr>
            <a:r>
              <a:t>HAPPY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4709160"/>
            <a:ext cx="1371600" cy="640080"/>
          </a:xfrm>
          <a:prstGeom prst="round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4855464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141F3A"/>
                </a:solidFill>
                <a:latin typeface="Aptos"/>
              </a:defRPr>
            </a:pPr>
            <a:r>
              <a:t>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9788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BECADC"/>
                </a:solidFill>
                <a:latin typeface="Aptos"/>
              </a:defRPr>
            </a:pPr>
            <a:r>
              <a:t>How small units build meaningful 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772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25BEAA"/>
                </a:solidFill>
                <a:latin typeface="Aptos"/>
              </a:defRPr>
            </a:pPr>
            <a:r>
              <a:t>01 •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1F3A"/>
                </a:solidFill>
                <a:latin typeface="Aptos"/>
              </a:defRPr>
            </a:pPr>
            <a:r>
              <a:t>What is Morphology?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BECADC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54864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222B40"/>
                </a:solidFill>
                <a:latin typeface="Aptos"/>
              </a:defRPr>
            </a:pPr>
            <a:r>
              <a:t>Morphology is the study of how words are built from smaller meaningful units.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852928"/>
            <a:ext cx="64008" cy="1883663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907792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Morpheme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64992"/>
            <a:ext cx="3044952" cy="1353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22B40"/>
                </a:solidFill>
                <a:latin typeface="Aptos"/>
              </a:defRPr>
            </a:pPr>
            <a:r>
              <a:t>The smallest unit that carries meaning or grammatical information.</a:t>
            </a:r>
            <a:br/>
            <a:br/>
            <a:r>
              <a:t>Example: “cats” = cat + -s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852928"/>
            <a:ext cx="64008" cy="1883663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907792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Word 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364992"/>
            <a:ext cx="3044952" cy="1353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22B40"/>
                </a:solidFill>
                <a:latin typeface="Aptos"/>
              </a:defRPr>
            </a:pPr>
            <a:r>
              <a:t>The ways languages create new words or change word forms.</a:t>
            </a:r>
            <a:br/>
            <a:br/>
            <a:r>
              <a:t>Example: teach → teacher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852928"/>
            <a:ext cx="64008" cy="1883663"/>
          </a:xfrm>
          <a:prstGeom prst="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907792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364992"/>
            <a:ext cx="3044952" cy="1353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22B40"/>
                </a:solidFill>
                <a:latin typeface="Aptos"/>
              </a:defRPr>
            </a:pPr>
            <a:r>
              <a:t>Helps NLP systems understand word meaning, grammar, and related forms.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141F3A"/>
                </a:solidFill>
                <a:latin typeface="Aptos"/>
              </a:defRPr>
            </a:pPr>
            <a:r>
              <a:t>Think of a word as a puzzle made of meaningful pieces.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772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25BEAA"/>
                </a:solidFill>
                <a:latin typeface="Aptos"/>
              </a:defRPr>
            </a:pPr>
            <a:r>
              <a:t>02 • BREAKING WORDS INTO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1F3A"/>
                </a:solidFill>
                <a:latin typeface="Aptos"/>
              </a:defRPr>
            </a:pPr>
            <a:r>
              <a:t>Morpheme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BECADC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54864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10332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0">
                <a:solidFill>
                  <a:srgbClr val="222B40"/>
                </a:solidFill>
                <a:latin typeface="Aptos"/>
              </a:defRPr>
            </a:pPr>
            <a:r>
              <a:t>A morpheme can be a complete word or a meaningful word-part.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1371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41F3A"/>
                </a:solidFill>
                <a:latin typeface="Aptos"/>
              </a:defRPr>
            </a:pPr>
            <a:r>
              <a:t>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560320"/>
            <a:ext cx="365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500" b="1">
                <a:solidFill>
                  <a:srgbClr val="FF7D69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514600"/>
            <a:ext cx="1828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41F3A"/>
                </a:solidFill>
                <a:latin typeface="Aptos"/>
              </a:defRPr>
            </a:pPr>
            <a:r>
              <a:t>HAPPY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560320"/>
            <a:ext cx="365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500" b="1">
                <a:solidFill>
                  <a:srgbClr val="FF7D69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514600"/>
            <a:ext cx="14630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141F3A"/>
                </a:solidFill>
                <a:latin typeface="Aptos"/>
              </a:defRPr>
            </a:pPr>
            <a:r>
              <a:t>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560320"/>
            <a:ext cx="457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500" b="1">
                <a:solidFill>
                  <a:srgbClr val="25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514600"/>
            <a:ext cx="33832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1">
                <a:solidFill>
                  <a:srgbClr val="25BEAA"/>
                </a:solidFill>
                <a:latin typeface="Aptos"/>
              </a:defRPr>
            </a:pPr>
            <a:r>
              <a:t>UNHAPPINESS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767328"/>
            <a:ext cx="64008" cy="1380744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82219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Prefix: un-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79392"/>
            <a:ext cx="3044952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222B40"/>
                </a:solidFill>
                <a:latin typeface="Aptos"/>
              </a:defRPr>
            </a:pPr>
            <a:r>
              <a:t>Adds a meaning like “not” or “opposite”.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57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3767328"/>
            <a:ext cx="64008" cy="1380744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382219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Root: happy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279392"/>
            <a:ext cx="3044952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222B40"/>
                </a:solidFill>
                <a:latin typeface="Aptos"/>
              </a:defRPr>
            </a:pPr>
            <a:r>
              <a:t>Carries the core meaning of the word.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657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3767328"/>
            <a:ext cx="64008" cy="1380744"/>
          </a:xfrm>
          <a:prstGeom prst="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382219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Suffix: -ness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279392"/>
            <a:ext cx="3044952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222B40"/>
                </a:solidFill>
                <a:latin typeface="Aptos"/>
              </a:defRPr>
            </a:pPr>
            <a:r>
              <a:t>Turns an adjective into a noun.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41F3A"/>
                </a:solidFill>
                <a:latin typeface="Aptos"/>
              </a:defRPr>
            </a:pPr>
            <a:r>
              <a:t>Common types: free morphemes (book) • bound morphemes (-s, un-)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772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25BEAA"/>
                </a:solidFill>
                <a:latin typeface="Aptos"/>
              </a:defRPr>
            </a:pPr>
            <a:r>
              <a:t>03 • MAIN 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1F3A"/>
                </a:solidFill>
                <a:latin typeface="Aptos"/>
              </a:defRPr>
            </a:pPr>
            <a:r>
              <a:t>How Words Are Formed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BECADC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54864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92807"/>
            <a:ext cx="64008" cy="1380744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Affixation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04872"/>
            <a:ext cx="3044952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22B40"/>
                </a:solidFill>
                <a:latin typeface="Aptos"/>
              </a:defRPr>
            </a:pPr>
            <a:r>
              <a:t>Add a prefix or suffix:</a:t>
            </a:r>
            <a:br/>
            <a:r>
              <a:t>kind → unkind → kindness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92807"/>
            <a:ext cx="64008" cy="1380744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Compounding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04872"/>
            <a:ext cx="3044952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22B40"/>
                </a:solidFill>
                <a:latin typeface="Aptos"/>
              </a:defRPr>
            </a:pPr>
            <a:r>
              <a:t>Combine two words:</a:t>
            </a:r>
            <a:br/>
            <a:r>
              <a:t>sun + flower → sunflower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92807"/>
            <a:ext cx="64008" cy="1380744"/>
          </a:xfrm>
          <a:prstGeom prst="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04872"/>
            <a:ext cx="3044952" cy="8503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222B40"/>
                </a:solidFill>
                <a:latin typeface="Aptos"/>
              </a:defRPr>
            </a:pPr>
            <a:r>
              <a:t>Change word class without changing form:</a:t>
            </a:r>
            <a:br/>
            <a:r>
              <a:t>email (noun) → to email (verb)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7947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0" y="3904488"/>
            <a:ext cx="64008" cy="1289304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61488" y="3959352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Clipping &amp; blending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4416552"/>
            <a:ext cx="3044952" cy="7589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222B40"/>
                </a:solidFill>
                <a:latin typeface="Aptos"/>
              </a:defRPr>
            </a:pPr>
            <a:r>
              <a:t>advertisement → ad</a:t>
            </a:r>
            <a:br/>
            <a:r>
              <a:t>breakfast + lunch → brunch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947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904488"/>
            <a:ext cx="64008" cy="1289304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3959352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Inflection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416552"/>
            <a:ext cx="3044952" cy="7589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222B40"/>
                </a:solidFill>
                <a:latin typeface="Aptos"/>
              </a:defRPr>
            </a:pPr>
            <a:r>
              <a:t>Add grammatical information:</a:t>
            </a:r>
            <a:br/>
            <a:r>
              <a:t>play → plays / played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141F3A"/>
                </a:solidFill>
                <a:latin typeface="Aptos"/>
              </a:defRPr>
            </a:pPr>
            <a:r>
              <a:t>Languages use different combinations of these processes.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772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25BEAA"/>
                </a:solidFill>
                <a:latin typeface="Aptos"/>
              </a:defRPr>
            </a:pPr>
            <a:r>
              <a:t>04 • FROM WORD TO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141F3A"/>
                </a:solidFill>
                <a:latin typeface="Aptos"/>
              </a:defRPr>
            </a:pPr>
            <a:r>
              <a:t>Word Structure Processing in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BECADC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54864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900" b="0">
                <a:solidFill>
                  <a:srgbClr val="222B40"/>
                </a:solidFill>
                <a:latin typeface="Aptos"/>
              </a:defRPr>
            </a:pPr>
            <a:r>
              <a:t>NLP systems analyze word parts to better understand unfamiliar words and grammar.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148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898648"/>
            <a:ext cx="411480" cy="411480"/>
          </a:xfrm>
          <a:prstGeom prst="ellipse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962656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141F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926080"/>
            <a:ext cx="1325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1F3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2044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222B40"/>
                </a:solidFill>
                <a:latin typeface="Aptos"/>
              </a:defRPr>
            </a:pPr>
            <a:r>
              <a:t>“reusable”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246120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500" b="1">
                <a:solidFill>
                  <a:srgbClr val="FF7D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743200"/>
            <a:ext cx="2148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03320" y="2898648"/>
            <a:ext cx="411480" cy="411480"/>
          </a:xfrm>
          <a:prstGeom prst="ellipse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2962656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141F3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926080"/>
            <a:ext cx="1325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1F3A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52044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222B40"/>
                </a:solidFill>
                <a:latin typeface="Aptos"/>
              </a:defRPr>
            </a:pPr>
            <a:r>
              <a:t>re + use + 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3246120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500" b="1">
                <a:solidFill>
                  <a:srgbClr val="FF7D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2148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37960" y="2898648"/>
            <a:ext cx="411480" cy="411480"/>
          </a:xfrm>
          <a:prstGeom prst="ellipse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962656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141F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26080"/>
            <a:ext cx="1325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1F3A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2044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222B40"/>
                </a:solidFill>
                <a:latin typeface="Aptos"/>
              </a:defRPr>
            </a:pPr>
            <a:r>
              <a:t>prefix + root + suffix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3246120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500" b="1">
                <a:solidFill>
                  <a:srgbClr val="FF7D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743200"/>
            <a:ext cx="2148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72600" y="2898648"/>
            <a:ext cx="411480" cy="411480"/>
          </a:xfrm>
          <a:prstGeom prst="ellipse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72600" y="2962656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141F3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2926080"/>
            <a:ext cx="1325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1F3A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52044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222B40"/>
                </a:solidFill>
                <a:latin typeface="Aptos"/>
              </a:defRPr>
            </a:pPr>
            <a:r>
              <a:t>able to use again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89204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5001768"/>
            <a:ext cx="64008" cy="694944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" y="5056631"/>
            <a:ext cx="448055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513831"/>
            <a:ext cx="4462272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222B40"/>
                </a:solidFill>
                <a:latin typeface="Aptos"/>
              </a:defRPr>
            </a:pPr>
            <a:r>
              <a:t>Search • spell-check • translation • chatbots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89204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5001768"/>
            <a:ext cx="64008" cy="694944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01968" y="5056631"/>
            <a:ext cx="448055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Key challenge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5367527"/>
            <a:ext cx="4462272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222B40"/>
                </a:solidFill>
                <a:latin typeface="Aptos"/>
              </a:defRPr>
            </a:pPr>
            <a:r>
              <a:rPr dirty="0"/>
              <a:t>Ambiguity: “unlockable” can have more than one reading.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25BEAA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Small parts. Big meaning.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258568"/>
            <a:ext cx="64008" cy="1609344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313432"/>
            <a:ext cx="2971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01  Morphemes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770632"/>
            <a:ext cx="2953512" cy="10789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0">
                <a:solidFill>
                  <a:srgbClr val="222B40"/>
                </a:solidFill>
                <a:latin typeface="Aptos"/>
              </a:defRPr>
            </a:pPr>
            <a:r>
              <a:t>The smallest meaningful units in a word.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4884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2258568"/>
            <a:ext cx="64008" cy="1609344"/>
          </a:xfrm>
          <a:prstGeom prst="rect">
            <a:avLst/>
          </a:prstGeom>
          <a:solidFill>
            <a:srgbClr val="F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2313432"/>
            <a:ext cx="2971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02  Word 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770632"/>
            <a:ext cx="2953512" cy="10789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22B40"/>
                </a:solidFill>
                <a:latin typeface="Aptos"/>
              </a:defRPr>
            </a:pPr>
            <a:r>
              <a:t>Prefixes, suffixes, compounds, and more create 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4884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2258568"/>
            <a:ext cx="64008" cy="1609344"/>
          </a:xfrm>
          <a:prstGeom prst="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2313432"/>
            <a:ext cx="2971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141F3A"/>
                </a:solidFill>
                <a:latin typeface="Aptos"/>
              </a:defRPr>
            </a:pPr>
            <a:r>
              <a:t>03  NLP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770632"/>
            <a:ext cx="2953512" cy="10789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22B40"/>
                </a:solidFill>
                <a:latin typeface="Aptos"/>
              </a:defRPr>
            </a:pPr>
            <a:r>
              <a:t>Word structure helps machines analyze language more accurately.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3657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486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0">
                <a:solidFill>
                  <a:srgbClr val="BECADC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89788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25BEAA"/>
                </a:solidFill>
                <a:latin typeface="Aptos"/>
              </a:defRPr>
            </a:pPr>
            <a:r>
              <a:t>MORPHOLOGY  / 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413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VIJAYALAKSHMI</dc:creator>
  <cp:keywords/>
  <dc:description>generated using python-pptx</dc:description>
  <cp:lastModifiedBy>vijayalakshmiss243@gmail.com</cp:lastModifiedBy>
  <cp:revision>2</cp:revision>
  <dcterms:created xsi:type="dcterms:W3CDTF">2013-01-27T09:14:16Z</dcterms:created>
  <dcterms:modified xsi:type="dcterms:W3CDTF">2026-10-09T07:38:19Z</dcterms:modified>
  <cp:category/>
</cp:coreProperties>
</file>